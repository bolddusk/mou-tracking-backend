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62" r:id="rId2"/>
    <p:sldId id="256" r:id="rId3"/>
    <p:sldId id="258" r:id="rId4"/>
    <p:sldId id="261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0CE"/>
    <a:srgbClr val="7296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3003" autoAdjust="0"/>
  </p:normalViewPr>
  <p:slideViewPr>
    <p:cSldViewPr snapToGrid="0">
      <p:cViewPr varScale="1">
        <p:scale>
          <a:sx n="74" d="100"/>
          <a:sy n="74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Umair" userId="9ff0de6be94db24a" providerId="LiveId" clId="{80B28BE8-FA21-433A-A657-F4FFFC57AE10}"/>
    <pc:docChg chg="addSld modSld sldOrd">
      <pc:chgData name="Ahmed Umair" userId="9ff0de6be94db24a" providerId="LiveId" clId="{80B28BE8-FA21-433A-A657-F4FFFC57AE10}" dt="2026-01-01T13:23:45.669" v="325" actId="5793"/>
      <pc:docMkLst>
        <pc:docMk/>
      </pc:docMkLst>
      <pc:sldChg chg="modSp add mod ord">
        <pc:chgData name="Ahmed Umair" userId="9ff0de6be94db24a" providerId="LiveId" clId="{80B28BE8-FA21-433A-A657-F4FFFC57AE10}" dt="2026-01-01T13:23:45.669" v="325" actId="5793"/>
        <pc:sldMkLst>
          <pc:docMk/>
          <pc:sldMk cId="552302316" sldId="263"/>
        </pc:sldMkLst>
        <pc:spChg chg="mod">
          <ac:chgData name="Ahmed Umair" userId="9ff0de6be94db24a" providerId="LiveId" clId="{80B28BE8-FA21-433A-A657-F4FFFC57AE10}" dt="2026-01-01T13:21:42.839" v="38" actId="20577"/>
          <ac:spMkLst>
            <pc:docMk/>
            <pc:sldMk cId="552302316" sldId="263"/>
            <ac:spMk id="5" creationId="{5A3BF0BD-B360-F0C7-23E6-BACC2A0AF004}"/>
          </ac:spMkLst>
        </pc:spChg>
        <pc:spChg chg="mod">
          <ac:chgData name="Ahmed Umair" userId="9ff0de6be94db24a" providerId="LiveId" clId="{80B28BE8-FA21-433A-A657-F4FFFC57AE10}" dt="2026-01-01T13:23:45.669" v="325" actId="5793"/>
          <ac:spMkLst>
            <pc:docMk/>
            <pc:sldMk cId="552302316" sldId="263"/>
            <ac:spMk id="14" creationId="{76F99E5A-8DB0-7443-C4C6-76123FF1C1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5F02D-FCDF-4860-B676-256F3BDD14B1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22458-A722-42BA-BB14-B0B6D5CD3C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9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22458-A722-42BA-BB14-B0B6D5CD3C8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500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22458-A722-42BA-BB14-B0B6D5CD3C8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3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22458-A722-42BA-BB14-B0B6D5CD3C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6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22458-A722-42BA-BB14-B0B6D5CD3C8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23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8EFE8-96B8-44D5-8384-667F760EF728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3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29A2-3A5E-41E1-8E3C-233C014BBF53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78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351A-44FF-4401-9CBB-3AF169988065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5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2DAA9-B9E1-4400-9B4C-095D493032E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35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FAA63-9F17-492E-9ABC-A5CA065795C4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94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A39D-E846-47F2-B9E1-3BBE55C6BA9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5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412D3-0DE6-482E-BCEF-1ABEEFA226A6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C5169-8B49-4C0C-BB4E-B454A158342F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59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E6F24-DF1E-4577-BECC-BB8E154A833C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4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A41A-14EE-48FD-982A-AABF8EF8AFC7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1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A060-3EED-4A52-B3DD-FC9A8F4D3994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8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C8E9C-41F8-4605-96E1-93B28BAD8727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1705-0A7B-4D02-95EB-E6EF3A7F76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7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8BB7F48-F77C-4BA3-A0D5-F3897B12A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667"/>
          <a:stretch/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486A476-EA4E-4AB1-BBCD-336CC0618D91}"/>
              </a:ext>
            </a:extLst>
          </p:cNvPr>
          <p:cNvSpPr/>
          <p:nvPr/>
        </p:nvSpPr>
        <p:spPr>
          <a:xfrm>
            <a:off x="6258047" y="970433"/>
            <a:ext cx="579120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Company Name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DAE37-7DEF-4F5C-BF24-381891F0E8D2}"/>
              </a:ext>
            </a:extLst>
          </p:cNvPr>
          <p:cNvSpPr txBox="1"/>
          <p:nvPr/>
        </p:nvSpPr>
        <p:spPr>
          <a:xfrm>
            <a:off x="6258047" y="5459673"/>
            <a:ext cx="3754054" cy="69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“LOGO”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515C4F-1553-44EA-AF9B-F449E50C1BD7}"/>
              </a:ext>
            </a:extLst>
          </p:cNvPr>
          <p:cNvSpPr/>
          <p:nvPr/>
        </p:nvSpPr>
        <p:spPr>
          <a:xfrm rot="5400000">
            <a:off x="8752390" y="3418390"/>
            <a:ext cx="173620" cy="67056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7E7934-653E-441A-8109-BF6045023829}"/>
              </a:ext>
            </a:extLst>
          </p:cNvPr>
          <p:cNvSpPr/>
          <p:nvPr/>
        </p:nvSpPr>
        <p:spPr>
          <a:xfrm rot="5400000">
            <a:off x="8752390" y="3244770"/>
            <a:ext cx="173620" cy="67056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887127AD-2646-46B2-884E-A1675B478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9" r="37231"/>
          <a:stretch/>
        </p:blipFill>
        <p:spPr bwMode="auto">
          <a:xfrm>
            <a:off x="1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akistani students introduce China's high-yield agriculture technology -  China Pakistan Economic Corridor">
            <a:extLst>
              <a:ext uri="{FF2B5EF4-FFF2-40B4-BE49-F238E27FC236}">
                <a16:creationId xmlns:a16="http://schemas.microsoft.com/office/drawing/2014/main" id="{49F83E29-E491-442F-899D-B0858FACA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1" r="26329"/>
          <a:stretch/>
        </p:blipFill>
        <p:spPr bwMode="auto">
          <a:xfrm>
            <a:off x="0" y="3175"/>
            <a:ext cx="5486399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3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961F520-2E14-4E16-BA51-48CDBA052530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Executive Summary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02A67-7230-4BA8-95E7-BD142813CBF5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26842-5392-4B5E-B187-29A1E113D820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2C43A-5776-48CF-BE63-FF6463949ECA}"/>
              </a:ext>
            </a:extLst>
          </p:cNvPr>
          <p:cNvSpPr txBox="1"/>
          <p:nvPr/>
        </p:nvSpPr>
        <p:spPr>
          <a:xfrm>
            <a:off x="631745" y="1342663"/>
            <a:ext cx="11047112" cy="334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Brief Company Overview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Brief Project Overview:</a:t>
            </a:r>
          </a:p>
          <a:p>
            <a:pPr marL="742950" lvl="1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Type of Project: Greenfield or Brownfield</a:t>
            </a:r>
          </a:p>
          <a:p>
            <a:pPr marL="742950" lvl="1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Segment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Inter Bold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How your project aligns with the Key Sectors for Pak-China Agri-Investment Conference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Investment Ask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0704B-596F-4AA5-BCDB-2FC43DEBA80C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381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961F520-2E14-4E16-BA51-48CDBA052530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Company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02A67-7230-4BA8-95E7-BD142813CBF5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26842-5392-4B5E-B187-29A1E113D820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DFBED-57E8-479E-A119-23A2CFA9A372}"/>
              </a:ext>
            </a:extLst>
          </p:cNvPr>
          <p:cNvSpPr txBox="1"/>
          <p:nvPr/>
        </p:nvSpPr>
        <p:spPr>
          <a:xfrm>
            <a:off x="631745" y="1504584"/>
            <a:ext cx="11047112" cy="4136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Company Profile &amp; Track Record:  Core activity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Years in operation and current market standing in Pakistan.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Key certifications held to prove international compliance.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Current Infrastructure &amp; Assets: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Land/Project/Capacity: (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e.g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Total acreage under management or factory processing throughput)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Value Chain: Scope of operations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What you provide: Local land, established labor force, and deep regulatory/government relations,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Export Centricity: Your readiness to scale production to meet Chinese quality standards for future expor</a:t>
            </a: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D83756-7B91-4DBC-BD4A-1F9F377AD78B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8699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961F520-2E14-4E16-BA51-48CDBA052530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02A67-7230-4BA8-95E7-BD142813CBF5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26842-5392-4B5E-B187-29A1E113D820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DFBED-57E8-479E-A119-23A2CFA9A372}"/>
              </a:ext>
            </a:extLst>
          </p:cNvPr>
          <p:cNvSpPr txBox="1"/>
          <p:nvPr/>
        </p:nvSpPr>
        <p:spPr>
          <a:xfrm>
            <a:off x="631745" y="1504584"/>
            <a:ext cx="11047112" cy="4880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Project Definition &amp; Location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Specific venture name and core activity (e.g., "High-Yield Rice Processing &amp; Value-Addition Hub").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Strategic site location (e.g., "CPEC North Zone / M-1 Motorway proximity") and site readiness status</a:t>
            </a: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Technology &amp; Innovation Focus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Identification of the specific Chinese technology sought (e.g., "Smart climate-controlled silos" or "Automated extraction lines").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Clear "Value-Addition" goal (e.g., "Transforming raw harvest into export-grade derivatives").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Operational Targets &amp; Timeline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Targeted production capacity (e.g., "Annual throughput of 100,000 Metric Tons").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Phased roadmap: Commissioning (Q3 2026) → Full Production (Q1 2027).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Economic &amp; Strategic Impact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Quantifiable impact on import substitution or foreign exchange earnings.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Sustainability metrics (e.g., "30% water reduction via Chinese drip-irrigation tech").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600" b="1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0C27B-C76D-457B-8DA0-135232263C57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790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961F520-2E14-4E16-BA51-48CDBA052530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Financials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9525304-3FD9-4A2C-ADA4-6EA26698432F}"/>
              </a:ext>
            </a:extLst>
          </p:cNvPr>
          <p:cNvSpPr/>
          <p:nvPr/>
        </p:nvSpPr>
        <p:spPr>
          <a:xfrm>
            <a:off x="631744" y="1488762"/>
            <a:ext cx="11197583" cy="50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02A67-7230-4BA8-95E7-BD142813CBF5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26842-5392-4B5E-B187-29A1E113D820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62C1B-9B9E-42DE-9B2F-9AC778A1F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389128"/>
              </p:ext>
            </p:extLst>
          </p:nvPr>
        </p:nvGraphicFramePr>
        <p:xfrm>
          <a:off x="631743" y="1253331"/>
          <a:ext cx="10928510" cy="4767426"/>
        </p:xfrm>
        <a:graphic>
          <a:graphicData uri="http://schemas.openxmlformats.org/drawingml/2006/table">
            <a:tbl>
              <a:tblPr/>
              <a:tblGrid>
                <a:gridCol w="2185702">
                  <a:extLst>
                    <a:ext uri="{9D8B030D-6E8A-4147-A177-3AD203B41FA5}">
                      <a16:colId xmlns:a16="http://schemas.microsoft.com/office/drawing/2014/main" val="246221999"/>
                    </a:ext>
                  </a:extLst>
                </a:gridCol>
                <a:gridCol w="2185702">
                  <a:extLst>
                    <a:ext uri="{9D8B030D-6E8A-4147-A177-3AD203B41FA5}">
                      <a16:colId xmlns:a16="http://schemas.microsoft.com/office/drawing/2014/main" val="3747000938"/>
                    </a:ext>
                  </a:extLst>
                </a:gridCol>
                <a:gridCol w="2185702">
                  <a:extLst>
                    <a:ext uri="{9D8B030D-6E8A-4147-A177-3AD203B41FA5}">
                      <a16:colId xmlns:a16="http://schemas.microsoft.com/office/drawing/2014/main" val="1240276574"/>
                    </a:ext>
                  </a:extLst>
                </a:gridCol>
                <a:gridCol w="2185702">
                  <a:extLst>
                    <a:ext uri="{9D8B030D-6E8A-4147-A177-3AD203B41FA5}">
                      <a16:colId xmlns:a16="http://schemas.microsoft.com/office/drawing/2014/main" val="1721793338"/>
                    </a:ext>
                  </a:extLst>
                </a:gridCol>
                <a:gridCol w="2185702">
                  <a:extLst>
                    <a:ext uri="{9D8B030D-6E8A-4147-A177-3AD203B41FA5}">
                      <a16:colId xmlns:a16="http://schemas.microsoft.com/office/drawing/2014/main" val="3199188388"/>
                    </a:ext>
                  </a:extLst>
                </a:gridCol>
              </a:tblGrid>
              <a:tr h="50788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Category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67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67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 20--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67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 20--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6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 20--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6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67905"/>
                  </a:ext>
                </a:extLst>
              </a:tr>
              <a:tr h="387231">
                <a:tc rowSpan="3"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Income Statement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Revenue (PKR Mn)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72136"/>
                  </a:ext>
                </a:extLst>
              </a:tr>
              <a:tr h="387231">
                <a:tc vMerge="1"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(PKR Mn) 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147802"/>
                  </a:ext>
                </a:extLst>
              </a:tr>
              <a:tr h="387231">
                <a:tc vMerge="1"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Income (PKR Mn)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358767"/>
                  </a:ext>
                </a:extLst>
              </a:tr>
              <a:tr h="387231">
                <a:tc rowSpan="3"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 Sheet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Assets (PKR Mn)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642700"/>
                  </a:ext>
                </a:extLst>
              </a:tr>
              <a:tr h="387231">
                <a:tc vMerge="1"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Debt (PKR Mn)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3851"/>
                  </a:ext>
                </a:extLst>
              </a:tr>
              <a:tr h="387231">
                <a:tc vMerge="1"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Shareholder Equity (PKR Mn)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958659"/>
                  </a:ext>
                </a:extLst>
              </a:tr>
              <a:tr h="387231">
                <a:tc rowSpan="2"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Profitability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 Margin (%)</a:t>
                      </a:r>
                    </a:p>
                  </a:txBody>
                  <a:tcPr marL="10295" marR="10295" marT="6863" marB="686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6512219"/>
                  </a:ext>
                </a:extLst>
              </a:tr>
              <a:tr h="387231">
                <a:tc vMerge="1"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Profitability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EBITDA Margin (%)</a:t>
                      </a:r>
                    </a:p>
                  </a:txBody>
                  <a:tcPr marL="10295" marR="10295" marT="6863" marB="686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9370812"/>
                  </a:ext>
                </a:extLst>
              </a:tr>
              <a:tr h="387231">
                <a:tc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 on Equity (ROE)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555338"/>
                  </a:ext>
                </a:extLst>
              </a:tr>
              <a:tr h="387231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Liquidity &amp; Risk</a:t>
                      </a: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Ratio (Liquidity)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750981"/>
                  </a:ext>
                </a:extLst>
              </a:tr>
              <a:tr h="387231">
                <a:tc>
                  <a:txBody>
                    <a:bodyPr/>
                    <a:lstStyle/>
                    <a:p>
                      <a:pPr rtl="0" fontAlgn="b"/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C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Debt-to-Equity</a:t>
                      </a: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295" marR="10295" marT="6863" marB="6863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9928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9A221D2-975F-4066-83A9-B2AB1C427211}"/>
              </a:ext>
            </a:extLst>
          </p:cNvPr>
          <p:cNvSpPr txBox="1"/>
          <p:nvPr/>
        </p:nvSpPr>
        <p:spPr>
          <a:xfrm>
            <a:off x="631742" y="6020757"/>
            <a:ext cx="102245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*Not subjected to just the above line items, add any additional relevant financials</a:t>
            </a:r>
          </a:p>
          <a:p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capex</a:t>
            </a:r>
            <a:r>
              <a:rPr lang="en-US" sz="11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1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6C8D2-2DB9-4912-8E0C-217F3A45FC6A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060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961F520-2E14-4E16-BA51-48CDBA052530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Investment Ask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9525304-3FD9-4A2C-ADA4-6EA26698432F}"/>
              </a:ext>
            </a:extLst>
          </p:cNvPr>
          <p:cNvSpPr/>
          <p:nvPr/>
        </p:nvSpPr>
        <p:spPr>
          <a:xfrm>
            <a:off x="631744" y="1488762"/>
            <a:ext cx="11197583" cy="506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02A67-7230-4BA8-95E7-BD142813CBF5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26842-5392-4B5E-B187-29A1E113D820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EAD07-B4D1-4EF6-8F60-EF2565D8EE7D}"/>
              </a:ext>
            </a:extLst>
          </p:cNvPr>
          <p:cNvSpPr txBox="1"/>
          <p:nvPr/>
        </p:nvSpPr>
        <p:spPr>
          <a:xfrm>
            <a:off x="631745" y="1372695"/>
            <a:ext cx="11047112" cy="5252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Project Capital Structure: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Total Project Cost: [Total Amount in USD]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Investment Ask: [Amount] (Equity, Debt)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Local Sponsor Contribution: [Amount] (Land, Infrastructure, or Cash)</a:t>
            </a:r>
          </a:p>
          <a:p>
            <a:pPr algn="l">
              <a:lnSpc>
                <a:spcPts val="2850"/>
              </a:lnSpc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Utilization of Funds (CAPEX focus):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Technology Acquisition: [X%]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Infrastructure &amp; Civil Works: [X%]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Working Capital: [X%] </a:t>
            </a:r>
          </a:p>
          <a:p>
            <a:pPr algn="l">
              <a:lnSpc>
                <a:spcPts val="2850"/>
              </a:lnSpc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Financial Benchmarks &amp; ROI: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Projected IRR: [X%] | Payback Period: [X] Years</a:t>
            </a:r>
          </a:p>
          <a:p>
            <a:pPr algn="l">
              <a:lnSpc>
                <a:spcPts val="2850"/>
              </a:lnSpc>
            </a:pPr>
            <a:r>
              <a:rPr lang="en-US" sz="16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Growth Milestones (The Roadmap):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 1 (6–12 Months):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 2 (12–24 Months): 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 3 (24+ Months):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F410CF-1A46-42BD-9C42-5CEC1A52EE5D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5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086BB87-6A71-402B-BF43-2CD651065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559231"/>
              </p:ext>
            </p:extLst>
          </p:nvPr>
        </p:nvGraphicFramePr>
        <p:xfrm>
          <a:off x="7698777" y="4797641"/>
          <a:ext cx="424329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1855">
                  <a:extLst>
                    <a:ext uri="{9D8B030D-6E8A-4147-A177-3AD203B41FA5}">
                      <a16:colId xmlns:a16="http://schemas.microsoft.com/office/drawing/2014/main" val="317848900"/>
                    </a:ext>
                  </a:extLst>
                </a:gridCol>
                <a:gridCol w="1811439">
                  <a:extLst>
                    <a:ext uri="{9D8B030D-6E8A-4147-A177-3AD203B41FA5}">
                      <a16:colId xmlns:a16="http://schemas.microsoft.com/office/drawing/2014/main" val="2447679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PKR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43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Sponsor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3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Raising from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99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Funds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3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37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8E20-039D-835B-9BEB-CA5A77DF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A3BF0BD-B360-F0C7-23E6-BACC2A0AF004}"/>
              </a:ext>
            </a:extLst>
          </p:cNvPr>
          <p:cNvSpPr/>
          <p:nvPr/>
        </p:nvSpPr>
        <p:spPr>
          <a:xfrm>
            <a:off x="631745" y="472721"/>
            <a:ext cx="1051467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Contact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9D25AC-6DBE-7A7C-F283-662DD08B5C4B}"/>
              </a:ext>
            </a:extLst>
          </p:cNvPr>
          <p:cNvSpPr/>
          <p:nvPr/>
        </p:nvSpPr>
        <p:spPr>
          <a:xfrm>
            <a:off x="0" y="0"/>
            <a:ext cx="173620" cy="6858000"/>
          </a:xfrm>
          <a:prstGeom prst="rect">
            <a:avLst/>
          </a:prstGeom>
          <a:solidFill>
            <a:srgbClr val="7296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D9C80-A1BD-BC9C-0F14-562B26AAE051}"/>
              </a:ext>
            </a:extLst>
          </p:cNvPr>
          <p:cNvSpPr/>
          <p:nvPr/>
        </p:nvSpPr>
        <p:spPr>
          <a:xfrm>
            <a:off x="173620" y="0"/>
            <a:ext cx="173620" cy="6858000"/>
          </a:xfrm>
          <a:prstGeom prst="rect">
            <a:avLst/>
          </a:prstGeom>
          <a:solidFill>
            <a:srgbClr val="E4E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99E5A-8DB0-7443-C4C6-76123FF1C104}"/>
              </a:ext>
            </a:extLst>
          </p:cNvPr>
          <p:cNvSpPr txBox="1"/>
          <p:nvPr/>
        </p:nvSpPr>
        <p:spPr>
          <a:xfrm>
            <a:off x="631745" y="1342663"/>
            <a:ext cx="11047112" cy="3716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Name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Designation 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Contact information </a:t>
            </a:r>
          </a:p>
          <a:p>
            <a:pPr marL="742950" lvl="1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 mail: </a:t>
            </a:r>
          </a:p>
          <a:p>
            <a:pPr marL="742950" lvl="1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Cell: </a:t>
            </a:r>
          </a:p>
          <a:p>
            <a:pPr marL="742950" lvl="1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WeChat: (If applicable):</a:t>
            </a:r>
          </a:p>
          <a:p>
            <a:pPr>
              <a:lnSpc>
                <a:spcPts val="2850"/>
              </a:lnSpc>
            </a:pPr>
            <a:endParaRPr lang="en-US" sz="14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5A292-4A33-3843-FDC2-CE05520B3488}"/>
              </a:ext>
            </a:extLst>
          </p:cNvPr>
          <p:cNvSpPr txBox="1"/>
          <p:nvPr/>
        </p:nvSpPr>
        <p:spPr>
          <a:xfrm>
            <a:off x="11678857" y="643665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230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529</Words>
  <Application>Microsoft Office PowerPoint</Application>
  <PresentationFormat>Widescreen</PresentationFormat>
  <Paragraphs>95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Mehdi Jehangir</dc:creator>
  <cp:lastModifiedBy>Ahmed Umair</cp:lastModifiedBy>
  <cp:revision>16</cp:revision>
  <dcterms:created xsi:type="dcterms:W3CDTF">2026-01-01T10:18:34Z</dcterms:created>
  <dcterms:modified xsi:type="dcterms:W3CDTF">2026-01-01T13:23:48Z</dcterms:modified>
</cp:coreProperties>
</file>